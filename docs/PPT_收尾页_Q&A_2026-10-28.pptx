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页，不要念。停在此页，等评委提问。</a:t>
            </a:r>
          </a:p>
          <a:p>
            <a:r>
              <a:t>36 条正式记录，分类与定位 12/12；26 条加分记录，最高原始 POC 可执行 2/12。</a:t>
            </a:r>
          </a:p>
          <a:p>
            <a:r>
              <a:t>左半句是方法，右半句是边界：让模型给线索，让证据给结论。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9692640" y="-548640"/>
            <a:ext cx="2926080" cy="2103120"/>
          </a:xfrm>
          <a:prstGeom prst="parallelogram">
            <a:avLst/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424160" y="-182880"/>
            <a:ext cx="2011680" cy="1371600"/>
          </a:xfrm>
          <a:prstGeom prst="parallelogram">
            <a:avLst/>
          </a:prstGeom>
          <a:solidFill>
            <a:srgbClr val="DD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365760" y="6126480"/>
            <a:ext cx="2743200" cy="1097280"/>
          </a:xfrm>
          <a:prstGeom prst="parallelogram">
            <a:avLst/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457200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" y="457200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2104" y="457200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6696" y="457200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1288" y="457200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" y="457200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621792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621792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" y="621792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6696" y="621792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61288" y="621792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25880" y="621792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" y="786384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" y="786384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2104" y="786384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6696" y="786384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61288" y="786384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5880" y="786384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20" y="950976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950976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" y="950976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6696" y="950976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1288" y="950976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950976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2920" y="1115568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7512" y="1115568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2104" y="1115568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6696" y="1115568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1288" y="1115568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1115568"/>
            <a:ext cx="32004" cy="32004"/>
          </a:xfrm>
          <a:prstGeom prst="ellipse">
            <a:avLst/>
          </a:prstGeom>
          <a:solidFill>
            <a:srgbClr val="BDD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389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E75B6"/>
                </a:solidFill>
                <a:latin typeface="微软雅黑"/>
                <a:ea typeface="微软雅黑"/>
              </a:rPr>
              <a:t>Q &amp; A  /  项目仓库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10241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123B6D"/>
                </a:solidFill>
                <a:latin typeface="微软雅黑"/>
                <a:ea typeface="微软雅黑"/>
              </a:rPr>
              <a:t>让模型给出线索，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166420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2E75B6"/>
                </a:solidFill>
                <a:latin typeface="微软雅黑"/>
                <a:ea typeface="微软雅黑"/>
              </a:rPr>
              <a:t>让证据给出结论。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" y="2542032"/>
            <a:ext cx="1417320" cy="411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03704" y="2542032"/>
            <a:ext cx="2011680" cy="41148"/>
          </a:xfrm>
          <a:prstGeom prst="rect">
            <a:avLst/>
          </a:prstGeom>
          <a:solidFill>
            <a:srgbClr val="9D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154680"/>
            <a:ext cx="822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>
                <a:solidFill>
                  <a:srgbClr val="123B6D"/>
                </a:solidFill>
                <a:latin typeface="微软雅黑"/>
                <a:ea typeface="微软雅黑"/>
              </a:rPr>
              <a:t>36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72768" y="327355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23B6D"/>
                </a:solidFill>
                <a:latin typeface="微软雅黑"/>
                <a:ea typeface="微软雅黑"/>
              </a:rPr>
              <a:t>条正式记录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72768" y="36118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B7884"/>
                </a:solidFill>
                <a:latin typeface="微软雅黑"/>
                <a:ea typeface="微软雅黑"/>
              </a:rPr>
              <a:t>分类与定位 12/12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69080" y="3127248"/>
            <a:ext cx="18288" cy="777240"/>
          </a:xfrm>
          <a:prstGeom prst="rect">
            <a:avLst/>
          </a:prstGeom>
          <a:solidFill>
            <a:srgbClr val="D7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0" y="3154680"/>
            <a:ext cx="822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>
                <a:solidFill>
                  <a:srgbClr val="123B6D"/>
                </a:solidFill>
                <a:latin typeface="微软雅黑"/>
                <a:ea typeface="微软雅黑"/>
              </a:rPr>
              <a:t>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84648" y="327355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23B6D"/>
                </a:solidFill>
                <a:latin typeface="微软雅黑"/>
                <a:ea typeface="微软雅黑"/>
              </a:rPr>
              <a:t>条加分记录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84648" y="36118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B7884"/>
                </a:solidFill>
                <a:latin typeface="微软雅黑"/>
                <a:ea typeface="微软雅黑"/>
              </a:rPr>
              <a:t>最高原始 POC 可执行 2/12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" y="4956048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证据链：输入  →  原文  →  哈希  →  POC  →  复核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" y="528523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B7884"/>
                </a:solidFill>
                <a:latin typeface="微软雅黑"/>
                <a:ea typeface="微软雅黑"/>
              </a:rPr>
              <a:t>每条结论都留在仓库里，随时可复核。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" y="619963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B7884"/>
                </a:solidFill>
                <a:latin typeface="微软雅黑"/>
                <a:ea typeface="微软雅黑"/>
              </a:rPr>
              <a:t>llm-web-vuln-lab  ·  2026-10-28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619963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B7884"/>
                </a:solidFill>
                <a:latin typeface="微软雅黑"/>
                <a:ea typeface="微软雅黑"/>
              </a:rPr>
              <a:t>4 分钟汇报  ·  1 分钟问答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32520" y="1051560"/>
            <a:ext cx="278892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052560" y="1371600"/>
            <a:ext cx="2148840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E2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qr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463040"/>
            <a:ext cx="1965960" cy="193852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961120" y="39776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23B6D"/>
                </a:solidFill>
                <a:latin typeface="微软雅黑"/>
                <a:ea typeface="微软雅黑"/>
              </a:rPr>
              <a:t>项目仓库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431596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B7884"/>
                </a:solidFill>
                <a:latin typeface="微软雅黑"/>
                <a:ea typeface="微软雅黑"/>
              </a:rPr>
              <a:t>扫码查看实验证据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464515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680" b="0">
                <a:solidFill>
                  <a:srgbClr val="6B7884"/>
                </a:solidFill>
                <a:latin typeface="微软雅黑"/>
                <a:ea typeface="微软雅黑"/>
              </a:rPr>
              <a:t>github.com/krrb2006/llm-web-vuln-lab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Q&amp;A 收尾页</dc:title>
  <dc:subject>llm-web-vuln-lab 口头报告收尾页</dc:subject>
  <dc:creator>刘珂如、张思佳、常佳佳、李楠</dc:creator>
  <cp:keywords/>
  <dc:description>第13页 Q&amp;A，放在第12页结论之后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